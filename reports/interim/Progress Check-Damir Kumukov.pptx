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6"/>
  </p:normalViewPr>
  <p:slideViewPr>
    <p:cSldViewPr snapToGrid="0">
      <p:cViewPr varScale="1">
        <p:scale>
          <a:sx n="114" d="100"/>
          <a:sy n="114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AE99-AF2E-A3FC-53FC-7E4C2A374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689" y="802298"/>
            <a:ext cx="10709164" cy="2541431"/>
          </a:xfrm>
        </p:spPr>
        <p:txBody>
          <a:bodyPr>
            <a:normAutofit fontScale="90000"/>
          </a:bodyPr>
          <a:lstStyle/>
          <a:p>
            <a:r>
              <a:rPr lang="en-US" dirty="0"/>
              <a:t>Are Charging Stations Keeping Up with EV Adoption in Maryland?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C055F-AA47-8AA8-7E8A-82D931543F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Damir Kumukov</a:t>
            </a:r>
          </a:p>
        </p:txBody>
      </p:sp>
    </p:spTree>
    <p:extLst>
      <p:ext uri="{BB962C8B-B14F-4D97-AF65-F5344CB8AC3E}">
        <p14:creationId xmlns:p14="http://schemas.microsoft.com/office/powerpoint/2010/main" val="296360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B18D-E3A9-54CD-E476-82012FEB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106DF-A785-E104-9E11-6FA90A265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 dataset (MDOT)</a:t>
            </a:r>
          </a:p>
          <a:p>
            <a:r>
              <a:rPr lang="en-US" dirty="0"/>
              <a:t>Charging dataset (DOE)</a:t>
            </a:r>
          </a:p>
          <a:p>
            <a:r>
              <a:rPr lang="en-US" dirty="0"/>
              <a:t>Filtered to EV only</a:t>
            </a:r>
          </a:p>
          <a:p>
            <a:r>
              <a:rPr lang="en-US" dirty="0"/>
              <a:t>Converted street addresses and location to county names using </a:t>
            </a:r>
            <a:r>
              <a:rPr lang="en-US" dirty="0" err="1"/>
              <a:t>GeoDataFrame</a:t>
            </a:r>
            <a:endParaRPr lang="en-US" dirty="0"/>
          </a:p>
          <a:p>
            <a:r>
              <a:rPr lang="en-US" dirty="0"/>
              <a:t>Merged</a:t>
            </a:r>
          </a:p>
        </p:txBody>
      </p:sp>
    </p:spTree>
    <p:extLst>
      <p:ext uri="{BB962C8B-B14F-4D97-AF65-F5344CB8AC3E}">
        <p14:creationId xmlns:p14="http://schemas.microsoft.com/office/powerpoint/2010/main" val="245668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858C-86B2-1A24-9E70-E9DF6CA6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vs Charging</a:t>
            </a:r>
          </a:p>
        </p:txBody>
      </p:sp>
      <p:pic>
        <p:nvPicPr>
          <p:cNvPr id="6" name="Content Placeholder 5" descr="A graph of charging stations&#10;&#10;AI-generated content may be incorrect.">
            <a:extLst>
              <a:ext uri="{FF2B5EF4-FFF2-40B4-BE49-F238E27FC236}">
                <a16:creationId xmlns:a16="http://schemas.microsoft.com/office/drawing/2014/main" id="{0E1A67C7-A610-6B67-2E8C-C4ACFEEA4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53754"/>
            <a:ext cx="7242366" cy="431287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B9252E-434F-2327-D059-FC484FEA451E}"/>
              </a:ext>
            </a:extLst>
          </p:cNvPr>
          <p:cNvSpPr txBox="1"/>
          <p:nvPr/>
        </p:nvSpPr>
        <p:spPr>
          <a:xfrm>
            <a:off x="7560527" y="2074127"/>
            <a:ext cx="35795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scatter plot shows a positive relationship between EV adoption and charging stations.</a:t>
            </a:r>
          </a:p>
          <a:p>
            <a:r>
              <a:rPr lang="en-US" dirty="0"/>
              <a:t>Counties with more EVs tend to have more chargers.</a:t>
            </a:r>
          </a:p>
        </p:txBody>
      </p:sp>
    </p:spTree>
    <p:extLst>
      <p:ext uri="{BB962C8B-B14F-4D97-AF65-F5344CB8AC3E}">
        <p14:creationId xmlns:p14="http://schemas.microsoft.com/office/powerpoint/2010/main" val="242082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0B71149-EF12-409B-9E8F-12D4AD678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C566F3-C07E-4D3A-BBEB-E92FCDC70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5" name="Content Placeholder 4" descr="A graph of blue bars&#10;&#10;AI-generated content may be incorrect.">
            <a:extLst>
              <a:ext uri="{FF2B5EF4-FFF2-40B4-BE49-F238E27FC236}">
                <a16:creationId xmlns:a16="http://schemas.microsoft.com/office/drawing/2014/main" id="{05E70A4A-D1A8-EF80-F6B6-98E6A70A7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38398" y="0"/>
            <a:ext cx="6053299" cy="2996383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628083-088A-4340-9F78-79BB3B772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2924" y="3526496"/>
            <a:ext cx="55361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38796D92-0C25-6031-55A4-18BC3A14A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398" y="3095028"/>
            <a:ext cx="6043251" cy="29914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19E7FDC-6797-4817-820D-2594ED938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9DF5848-4888-4C68-B050-02B3D1032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D983E8-E8E7-644B-A3C6-ECF666D35EA3}"/>
              </a:ext>
            </a:extLst>
          </p:cNvPr>
          <p:cNvSpPr txBox="1"/>
          <p:nvPr/>
        </p:nvSpPr>
        <p:spPr>
          <a:xfrm>
            <a:off x="1442924" y="1498191"/>
            <a:ext cx="4371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counties like Montgomery and Baltimore have the highest EV adoption and also the most infrastructure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153EA3-5707-745F-7511-D4C41CF0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Bar Charts</a:t>
            </a:r>
          </a:p>
        </p:txBody>
      </p:sp>
    </p:spTree>
    <p:extLst>
      <p:ext uri="{BB962C8B-B14F-4D97-AF65-F5344CB8AC3E}">
        <p14:creationId xmlns:p14="http://schemas.microsoft.com/office/powerpoint/2010/main" val="225631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with blue dots&#10;&#10;AI-generated content may be incorrect.">
            <a:extLst>
              <a:ext uri="{FF2B5EF4-FFF2-40B4-BE49-F238E27FC236}">
                <a16:creationId xmlns:a16="http://schemas.microsoft.com/office/drawing/2014/main" id="{4B79E8AA-46EB-F4D1-CF2C-54344D39D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843" y="1853754"/>
            <a:ext cx="7754157" cy="4279417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CCC404-2D56-259F-8853-1B7A0194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52920-9103-12B1-D9E9-DC4849026B57}"/>
              </a:ext>
            </a:extLst>
          </p:cNvPr>
          <p:cNvSpPr txBox="1"/>
          <p:nvPr/>
        </p:nvSpPr>
        <p:spPr>
          <a:xfrm>
            <a:off x="1451579" y="2107580"/>
            <a:ext cx="2741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map shows the actual locations of charging stations.</a:t>
            </a:r>
          </a:p>
          <a:p>
            <a:r>
              <a:rPr lang="en-US" dirty="0"/>
              <a:t>We can see clustering in urban areas and fewer stations in rural regions.</a:t>
            </a:r>
          </a:p>
        </p:txBody>
      </p:sp>
    </p:spTree>
    <p:extLst>
      <p:ext uri="{BB962C8B-B14F-4D97-AF65-F5344CB8AC3E}">
        <p14:creationId xmlns:p14="http://schemas.microsoft.com/office/powerpoint/2010/main" val="413354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938D-E8A0-81BF-9BCC-A5DCFF78A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</a:t>
            </a:r>
          </a:p>
        </p:txBody>
      </p:sp>
      <p:pic>
        <p:nvPicPr>
          <p:cNvPr id="5" name="Content Placeholder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038F68EB-FE6A-E39E-7DA4-6FF7C241D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0809" y="1853754"/>
            <a:ext cx="5434045" cy="42905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55CAD2-DFC9-D07E-6436-A4E47888B7D3}"/>
              </a:ext>
            </a:extLst>
          </p:cNvPr>
          <p:cNvSpPr txBox="1"/>
          <p:nvPr/>
        </p:nvSpPr>
        <p:spPr>
          <a:xfrm>
            <a:off x="1451579" y="2152185"/>
            <a:ext cx="38229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a very strong positive correlation (0.87) between the total number of Charging Stations and EV Count, meaning that physical location availability is the leading indicator for adoption.</a:t>
            </a:r>
          </a:p>
        </p:txBody>
      </p:sp>
    </p:spTree>
    <p:extLst>
      <p:ext uri="{BB962C8B-B14F-4D97-AF65-F5344CB8AC3E}">
        <p14:creationId xmlns:p14="http://schemas.microsoft.com/office/powerpoint/2010/main" val="259872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C88E-AD42-ACAA-A7C1-69AE26E9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EFD16-E906-4850-E489-E0CB04F7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I will apply linear regression to measure the relationship between EV adoption and charging stations, and multi linear regression to compare EV </a:t>
            </a:r>
            <a:r>
              <a:rPr lang="en-US"/>
              <a:t>count by fast </a:t>
            </a:r>
            <a:r>
              <a:rPr lang="en-US" dirty="0"/>
              <a:t>chargers versus Level 2 chargers.</a:t>
            </a:r>
          </a:p>
        </p:txBody>
      </p:sp>
    </p:spTree>
    <p:extLst>
      <p:ext uri="{BB962C8B-B14F-4D97-AF65-F5344CB8AC3E}">
        <p14:creationId xmlns:p14="http://schemas.microsoft.com/office/powerpoint/2010/main" val="80991896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1580</TotalTime>
  <Words>184</Words>
  <Application>Microsoft Macintosh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Are Charging Stations Keeping Up with EV Adoption in Maryland?</vt:lpstr>
      <vt:lpstr>Datasets</vt:lpstr>
      <vt:lpstr>EV vs Charging</vt:lpstr>
      <vt:lpstr>Bar Charts</vt:lpstr>
      <vt:lpstr>Dot Map</vt:lpstr>
      <vt:lpstr>Heatmap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Kumukov, Damir</dc:creator>
  <cp:lastModifiedBy>Kumukov, Damir</cp:lastModifiedBy>
  <cp:revision>1</cp:revision>
  <dcterms:created xsi:type="dcterms:W3CDTF">2026-04-14T22:41:19Z</dcterms:created>
  <dcterms:modified xsi:type="dcterms:W3CDTF">2026-04-16T01:01:23Z</dcterms:modified>
</cp:coreProperties>
</file>