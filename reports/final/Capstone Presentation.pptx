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2" r:id="rId9"/>
    <p:sldId id="269" r:id="rId10"/>
    <p:sldId id="265" r:id="rId11"/>
    <p:sldId id="266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54"/>
  </p:normalViewPr>
  <p:slideViewPr>
    <p:cSldViewPr snapToGrid="0">
      <p:cViewPr varScale="1">
        <p:scale>
          <a:sx n="108" d="100"/>
          <a:sy n="108" d="100"/>
        </p:scale>
        <p:origin x="8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2954-3A0C-3A70-9C17-68E319492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 Maryland ready for ev’s?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37D5D-56E8-2259-AF2C-4FC0E1E34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Data Science Story by: Damir Kumukov</a:t>
            </a:r>
          </a:p>
        </p:txBody>
      </p:sp>
    </p:spTree>
    <p:extLst>
      <p:ext uri="{BB962C8B-B14F-4D97-AF65-F5344CB8AC3E}">
        <p14:creationId xmlns:p14="http://schemas.microsoft.com/office/powerpoint/2010/main" val="364749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23F6-6DD7-262A-D981-6AB86BD8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95942-0EF2-AF0D-8996-446D628C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590800"/>
            <a:ext cx="2564780" cy="3581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Finances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Gas Prices are unpredictable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EV’s are more stable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Cheaper in the long run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2C048A-F888-5236-AB40-5BECFFE71CC4}"/>
              </a:ext>
            </a:extLst>
          </p:cNvPr>
          <p:cNvSpPr txBox="1">
            <a:spLocks/>
          </p:cNvSpPr>
          <p:nvPr/>
        </p:nvSpPr>
        <p:spPr>
          <a:xfrm>
            <a:off x="4538546" y="2590800"/>
            <a:ext cx="2564780" cy="3581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Environment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Transportation emissions make up 30% of all GHG.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EV’s make zero tailpipe emissions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044C44-12E7-CA61-29AF-039A9FC620F4}"/>
              </a:ext>
            </a:extLst>
          </p:cNvPr>
          <p:cNvSpPr txBox="1">
            <a:spLocks/>
          </p:cNvSpPr>
          <p:nvPr/>
        </p:nvSpPr>
        <p:spPr>
          <a:xfrm>
            <a:off x="7705492" y="2590800"/>
            <a:ext cx="2564780" cy="3581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Efficiency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Charge overnight and have 200-300 miles of range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Avoid trips to gas stations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Minimal Maintenance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1CC356-4655-DC3C-3841-48E74D331264}"/>
              </a:ext>
            </a:extLst>
          </p:cNvPr>
          <p:cNvSpPr txBox="1">
            <a:spLocks/>
          </p:cNvSpPr>
          <p:nvPr/>
        </p:nvSpPr>
        <p:spPr>
          <a:xfrm>
            <a:off x="1371600" y="1871546"/>
            <a:ext cx="8898672" cy="4209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Project Question: Is charging infrastructure keeping up with EV growth?</a:t>
            </a:r>
          </a:p>
        </p:txBody>
      </p:sp>
      <p:pic>
        <p:nvPicPr>
          <p:cNvPr id="10" name="Picture 9" descr="A black and white image of a graph in a gear&#10;&#10;AI-generated content may be incorrect.">
            <a:extLst>
              <a:ext uri="{FF2B5EF4-FFF2-40B4-BE49-F238E27FC236}">
                <a16:creationId xmlns:a16="http://schemas.microsoft.com/office/drawing/2014/main" id="{CFC5F431-EEEC-CEEF-C522-8B5D245F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720" y="0"/>
            <a:ext cx="1894159" cy="189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65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6798-3E44-2D1A-F96E-D4AB089C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30" y="247650"/>
            <a:ext cx="9601200" cy="1485900"/>
          </a:xfrm>
        </p:spPr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E727B2-ACF6-7AC0-6157-0AC6C5F62EE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47130" y="1012439"/>
            <a:ext cx="5932450" cy="55979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Datasets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Maryland EV Registration By County (MVA/MDOT)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Monthly count of hybrid and electric vehicles by county.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Alternative Fuel Station Dataset (U.S DOE)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Station locations, charger type Level 2 vs. DC Fast. Public or Private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Maryland Median Income by County (NIH)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Median household income by county in Maryland.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Maryland Population by County (Data Montgomery)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Population data for Maryland counties</a:t>
            </a:r>
          </a:p>
          <a:p>
            <a:r>
              <a:rPr lang="en-US" dirty="0">
                <a:solidFill>
                  <a:schemeClr val="tx1"/>
                </a:solidFill>
              </a:rPr>
              <a:t>Tools used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Python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Multilinear Regression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GeoDataFrame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C31FAF-F538-316A-7E4E-107B89B62741}"/>
              </a:ext>
            </a:extLst>
          </p:cNvPr>
          <p:cNvSpPr txBox="1">
            <a:spLocks/>
          </p:cNvSpPr>
          <p:nvPr/>
        </p:nvSpPr>
        <p:spPr>
          <a:xfrm>
            <a:off x="6802245" y="1561171"/>
            <a:ext cx="2564780" cy="4306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Data Cleaning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Addresses -&gt; Counties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Merged By County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Only EV’s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EV to Charger Ratio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Full Details in Github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B0C01C2-EB09-D079-7391-AA5AE3401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6168" y="247650"/>
            <a:ext cx="2152183" cy="215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1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AB8A-BED2-B921-0C13-EB6AAC57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Growth Over Time in Maryland</a:t>
            </a:r>
          </a:p>
        </p:txBody>
      </p:sp>
      <p:pic>
        <p:nvPicPr>
          <p:cNvPr id="9" name="Content Placeholder 8" descr="A graph of growth in the united states&#10;&#10;AI-generated content may be incorrect.">
            <a:extLst>
              <a:ext uri="{FF2B5EF4-FFF2-40B4-BE49-F238E27FC236}">
                <a16:creationId xmlns:a16="http://schemas.microsoft.com/office/drawing/2014/main" id="{955D1819-C89B-5854-0379-3A8A5F10E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889" y="1428750"/>
            <a:ext cx="10041001" cy="5308226"/>
          </a:xfrm>
        </p:spPr>
      </p:pic>
    </p:spTree>
    <p:extLst>
      <p:ext uri="{BB962C8B-B14F-4D97-AF65-F5344CB8AC3E}">
        <p14:creationId xmlns:p14="http://schemas.microsoft.com/office/powerpoint/2010/main" val="41439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9958-45C0-B425-061B-0174ADDF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to Charger Ratios by County</a:t>
            </a:r>
          </a:p>
        </p:txBody>
      </p:sp>
      <p:pic>
        <p:nvPicPr>
          <p:cNvPr id="10" name="Content Placeholder 9" descr="A graph of charging stations&#10;&#10;AI-generated content may be incorrect.">
            <a:extLst>
              <a:ext uri="{FF2B5EF4-FFF2-40B4-BE49-F238E27FC236}">
                <a16:creationId xmlns:a16="http://schemas.microsoft.com/office/drawing/2014/main" id="{9F3BEC67-6CAF-7ED9-9444-B80B5E7A2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643" y="1428749"/>
            <a:ext cx="10921195" cy="5284449"/>
          </a:xfrm>
        </p:spPr>
      </p:pic>
    </p:spTree>
    <p:extLst>
      <p:ext uri="{BB962C8B-B14F-4D97-AF65-F5344CB8AC3E}">
        <p14:creationId xmlns:p14="http://schemas.microsoft.com/office/powerpoint/2010/main" val="304840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DB04-8FCE-E556-684D-14A345EE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37" y="685800"/>
            <a:ext cx="11355436" cy="1485900"/>
          </a:xfrm>
        </p:spPr>
        <p:txBody>
          <a:bodyPr/>
          <a:lstStyle/>
          <a:p>
            <a:r>
              <a:rPr lang="en-US" dirty="0"/>
              <a:t>Rich Counties Have a Worse Charger Shortage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A5B34D-C541-BB1B-FBEE-62113821F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37" y="1428750"/>
            <a:ext cx="11125037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22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charger distribution&#10;&#10;AI-generated content may be incorrect.">
            <a:extLst>
              <a:ext uri="{FF2B5EF4-FFF2-40B4-BE49-F238E27FC236}">
                <a16:creationId xmlns:a16="http://schemas.microsoft.com/office/drawing/2014/main" id="{7B11F7D3-59D1-4DE7-EB3D-DD61E859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08" y="1428750"/>
            <a:ext cx="9603223" cy="540052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0584171-9936-302F-F4FA-059AE01F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04088" cy="1485900"/>
          </a:xfrm>
        </p:spPr>
        <p:txBody>
          <a:bodyPr/>
          <a:lstStyle/>
          <a:p>
            <a:r>
              <a:rPr lang="en-US" dirty="0"/>
              <a:t>Charger Type Distribution by Counties</a:t>
            </a:r>
          </a:p>
        </p:txBody>
      </p:sp>
    </p:spTree>
    <p:extLst>
      <p:ext uri="{BB962C8B-B14F-4D97-AF65-F5344CB8AC3E}">
        <p14:creationId xmlns:p14="http://schemas.microsoft.com/office/powerpoint/2010/main" val="915050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2430-0B0C-1DCA-1679-688AFE78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34" y="730404"/>
            <a:ext cx="9601200" cy="1485900"/>
          </a:xfrm>
        </p:spPr>
        <p:txBody>
          <a:bodyPr/>
          <a:lstStyle/>
          <a:p>
            <a:r>
              <a:rPr lang="en-US" dirty="0"/>
              <a:t>What Drives EV Adoption?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8C99E-7649-151A-3A5D-BAF469290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34" y="1820863"/>
            <a:ext cx="7700294" cy="266049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045BFF-C10A-4224-7859-3D387F53B08A}"/>
              </a:ext>
            </a:extLst>
          </p:cNvPr>
          <p:cNvSpPr txBox="1">
            <a:spLocks/>
          </p:cNvSpPr>
          <p:nvPr/>
        </p:nvSpPr>
        <p:spPr>
          <a:xfrm>
            <a:off x="8535689" y="1820863"/>
            <a:ext cx="3656311" cy="41259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Uses EVs per capita to compare counties fairly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Uses stations per 1,000 residents to measure charging access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R² = 0.685: model explains about 68.5% of variation in EV adoption rate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Stations_per_1000: positive relationship, but not statistically significant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Median income: positive and statistically significant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Main takeaway: income is the stronger predictor after adjusting for population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AFFF5C-3247-37B6-2580-DC726B18BD1C}"/>
              </a:ext>
            </a:extLst>
          </p:cNvPr>
          <p:cNvSpPr txBox="1">
            <a:spLocks/>
          </p:cNvSpPr>
          <p:nvPr/>
        </p:nvSpPr>
        <p:spPr>
          <a:xfrm>
            <a:off x="735034" y="4520349"/>
            <a:ext cx="7700294" cy="14264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Assumptions were reasonably met, but results should be interpreted carefully because the model only uses 23 counties.</a:t>
            </a:r>
          </a:p>
        </p:txBody>
      </p:sp>
    </p:spTree>
    <p:extLst>
      <p:ext uri="{BB962C8B-B14F-4D97-AF65-F5344CB8AC3E}">
        <p14:creationId xmlns:p14="http://schemas.microsoft.com/office/powerpoint/2010/main" val="263970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393F-BCA9-3C92-C3A6-613A9A73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Montgomery County Dominate?</a:t>
            </a: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6E7AC151-9AB8-B8E0-B78D-376C6E3B53E1}"/>
              </a:ext>
            </a:extLst>
          </p:cNvPr>
          <p:cNvSpPr/>
          <p:nvPr/>
        </p:nvSpPr>
        <p:spPr>
          <a:xfrm>
            <a:off x="1517904" y="237744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3B27D357-49FE-DFE5-6736-F41C2DC459BC}"/>
              </a:ext>
            </a:extLst>
          </p:cNvPr>
          <p:cNvSpPr/>
          <p:nvPr/>
        </p:nvSpPr>
        <p:spPr>
          <a:xfrm>
            <a:off x="1517904" y="2743200"/>
            <a:ext cx="3822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D02BCA-6381-422F-7F6B-B5DCC61EC761}"/>
              </a:ext>
            </a:extLst>
          </p:cNvPr>
          <p:cNvSpPr txBox="1">
            <a:spLocks/>
          </p:cNvSpPr>
          <p:nvPr/>
        </p:nvSpPr>
        <p:spPr>
          <a:xfrm>
            <a:off x="1371599" y="2286001"/>
            <a:ext cx="4070195" cy="14264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Dealership Partnerships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County programs work directly with dealerships to offer discounted EV pricing and promote EV sales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EFB611-EB35-53AA-C4D7-611A43247779}"/>
              </a:ext>
            </a:extLst>
          </p:cNvPr>
          <p:cNvSpPr txBox="1">
            <a:spLocks/>
          </p:cNvSpPr>
          <p:nvPr/>
        </p:nvSpPr>
        <p:spPr>
          <a:xfrm>
            <a:off x="5973336" y="2286001"/>
            <a:ext cx="4070195" cy="14264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Strong Climate Policy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Montgomery County’s Climate Action Plan is a framework to reduce GHG by 100% by 2035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70F39B-9CD8-BDB2-0733-2D103710E7AC}"/>
              </a:ext>
            </a:extLst>
          </p:cNvPr>
          <p:cNvSpPr txBox="1">
            <a:spLocks/>
          </p:cNvSpPr>
          <p:nvPr/>
        </p:nvSpPr>
        <p:spPr>
          <a:xfrm>
            <a:off x="1371598" y="4144538"/>
            <a:ext cx="4070195" cy="14264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Economic Advantage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$117,000 Median income per household. Lowers the EV purchasing barrier.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1B0AC-A8A7-8E7F-0651-0A9F4AFAD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362" y="4686301"/>
            <a:ext cx="2024875" cy="20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5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BE22-0211-FBFD-5B88-CF8348BF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D0A7759-88A1-75C9-D8E2-36339043EC76}"/>
              </a:ext>
            </a:extLst>
          </p:cNvPr>
          <p:cNvSpPr/>
          <p:nvPr/>
        </p:nvSpPr>
        <p:spPr>
          <a:xfrm>
            <a:off x="1691042" y="2079981"/>
            <a:ext cx="4819192" cy="485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0A2342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54CB3E1-D02D-5923-F571-45D42057A5D3}"/>
              </a:ext>
            </a:extLst>
          </p:cNvPr>
          <p:cNvSpPr/>
          <p:nvPr/>
        </p:nvSpPr>
        <p:spPr>
          <a:xfrm>
            <a:off x="1277190" y="1814222"/>
            <a:ext cx="4819192" cy="90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79C17D7-F432-A6FD-AC0F-453A549F6E17}"/>
              </a:ext>
            </a:extLst>
          </p:cNvPr>
          <p:cNvSpPr/>
          <p:nvPr/>
        </p:nvSpPr>
        <p:spPr>
          <a:xfrm>
            <a:off x="7727562" y="2047033"/>
            <a:ext cx="4819192" cy="485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72578D7-3E27-A97C-F6AE-B6BD36653510}"/>
              </a:ext>
            </a:extLst>
          </p:cNvPr>
          <p:cNvSpPr/>
          <p:nvPr/>
        </p:nvSpPr>
        <p:spPr>
          <a:xfrm>
            <a:off x="1568402" y="3710739"/>
            <a:ext cx="4819192" cy="485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764D945-3DEE-EABD-1B8B-4079CA90C96B}"/>
              </a:ext>
            </a:extLst>
          </p:cNvPr>
          <p:cNvSpPr/>
          <p:nvPr/>
        </p:nvSpPr>
        <p:spPr>
          <a:xfrm>
            <a:off x="7629887" y="3561202"/>
            <a:ext cx="4819192" cy="485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C4189606-524B-62FA-F479-7664784FD749}"/>
              </a:ext>
            </a:extLst>
          </p:cNvPr>
          <p:cNvSpPr txBox="1">
            <a:spLocks/>
          </p:cNvSpPr>
          <p:nvPr/>
        </p:nvSpPr>
        <p:spPr>
          <a:xfrm>
            <a:off x="1182398" y="1428749"/>
            <a:ext cx="5053134" cy="1682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EV adoption is growing faster than infrastructure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EV-to-Charger ratio only increases.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78C2F0C-2DD9-9501-7DAB-5F1626AC1304}"/>
              </a:ext>
            </a:extLst>
          </p:cNvPr>
          <p:cNvSpPr txBox="1">
            <a:spLocks/>
          </p:cNvSpPr>
          <p:nvPr/>
        </p:nvSpPr>
        <p:spPr>
          <a:xfrm>
            <a:off x="1160219" y="3273132"/>
            <a:ext cx="5053134" cy="1682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Income is the strongest predictor for EV adoption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Higher income counties have higher EV adoption rates after adjusting for populations </a:t>
            </a: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117014EB-8B70-0CF7-3E5B-EF93E8999E85}"/>
              </a:ext>
            </a:extLst>
          </p:cNvPr>
          <p:cNvSpPr txBox="1">
            <a:spLocks/>
          </p:cNvSpPr>
          <p:nvPr/>
        </p:nvSpPr>
        <p:spPr>
          <a:xfrm>
            <a:off x="6706643" y="1425851"/>
            <a:ext cx="5053134" cy="1682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EV growth is concentrated in a few counties.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Top 5 Counties have more EV’s than the rest combined.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C26168F-3116-11D1-1614-EB44DA230F36}"/>
              </a:ext>
            </a:extLst>
          </p:cNvPr>
          <p:cNvSpPr txBox="1">
            <a:spLocks/>
          </p:cNvSpPr>
          <p:nvPr/>
        </p:nvSpPr>
        <p:spPr>
          <a:xfrm>
            <a:off x="6706643" y="3205195"/>
            <a:ext cx="5053134" cy="1682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Infrastructure gaps are largest in high-demand areas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Counties with more EV’s have a bigger charger shortage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96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F88E-AC36-7E31-29BE-24B96B3AF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2743200" cy="1485900"/>
          </a:xfrm>
        </p:spPr>
        <p:txBody>
          <a:bodyPr/>
          <a:lstStyle/>
          <a:p>
            <a:r>
              <a:rPr lang="en-US" dirty="0"/>
              <a:t>Reflection 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CE39A1B-313D-31A8-9C3B-DC11E9F606EB}"/>
              </a:ext>
            </a:extLst>
          </p:cNvPr>
          <p:cNvSpPr/>
          <p:nvPr/>
        </p:nvSpPr>
        <p:spPr>
          <a:xfrm>
            <a:off x="1371600" y="2410967"/>
            <a:ext cx="3111190" cy="457693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80CA2B4-9620-F413-64B0-1D1B42ADBC23}"/>
              </a:ext>
            </a:extLst>
          </p:cNvPr>
          <p:cNvSpPr/>
          <p:nvPr/>
        </p:nvSpPr>
        <p:spPr>
          <a:xfrm>
            <a:off x="1481327" y="2447543"/>
            <a:ext cx="2862295" cy="37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What Was Challenging</a:t>
            </a:r>
            <a:endParaRPr lang="en-US" sz="125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BF4018F-CCD3-5D27-D4E8-E3BDA3DBBFFD}"/>
              </a:ext>
            </a:extLst>
          </p:cNvPr>
          <p:cNvSpPr/>
          <p:nvPr/>
        </p:nvSpPr>
        <p:spPr>
          <a:xfrm>
            <a:off x="1371600" y="2795016"/>
            <a:ext cx="3111190" cy="36615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ABE8990-3F12-A2AC-9FA5-876E90EB67EC}"/>
              </a:ext>
            </a:extLst>
          </p:cNvPr>
          <p:cNvSpPr/>
          <p:nvPr/>
        </p:nvSpPr>
        <p:spPr>
          <a:xfrm>
            <a:off x="1499616" y="2904744"/>
            <a:ext cx="2820812" cy="3421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Merging datasets cleanly. County names were formatted differently across all datasets.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(23 counties) limits statistical power and gives outliers like Montgomery County.</a:t>
            </a:r>
            <a:endParaRPr lang="en-US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DE0D2CE-1C03-FB06-2F53-65C995FCE4AD}"/>
              </a:ext>
            </a:extLst>
          </p:cNvPr>
          <p:cNvSpPr/>
          <p:nvPr/>
        </p:nvSpPr>
        <p:spPr>
          <a:xfrm>
            <a:off x="5011469" y="2410967"/>
            <a:ext cx="3111189" cy="4576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F73C9DA-4BDA-0278-CDD5-CE97B01CE2B7}"/>
              </a:ext>
            </a:extLst>
          </p:cNvPr>
          <p:cNvSpPr/>
          <p:nvPr/>
        </p:nvSpPr>
        <p:spPr>
          <a:xfrm>
            <a:off x="5121198" y="2447542"/>
            <a:ext cx="2862294" cy="37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What Was Rewarding</a:t>
            </a:r>
            <a:endParaRPr lang="en-US" sz="125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0311AE80-DB65-1028-805B-BE3A1D7E50F0}"/>
              </a:ext>
            </a:extLst>
          </p:cNvPr>
          <p:cNvSpPr/>
          <p:nvPr/>
        </p:nvSpPr>
        <p:spPr>
          <a:xfrm>
            <a:off x="5011469" y="2795014"/>
            <a:ext cx="3111189" cy="36615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B0279AE-8569-C818-6751-19BF24A96233}"/>
              </a:ext>
            </a:extLst>
          </p:cNvPr>
          <p:cNvSpPr/>
          <p:nvPr/>
        </p:nvSpPr>
        <p:spPr>
          <a:xfrm>
            <a:off x="5139485" y="2904742"/>
            <a:ext cx="2820811" cy="34217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a Story. Going from raw datasets to clear insights and a full narrative was one of the most satisfying parts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Working with Real Data. Analyzing real Maryland EV and infrastructure data made the project feel practical and relevant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827BFCD-6722-2B5D-2954-BB00151129D7}"/>
              </a:ext>
            </a:extLst>
          </p:cNvPr>
          <p:cNvSpPr/>
          <p:nvPr/>
        </p:nvSpPr>
        <p:spPr>
          <a:xfrm>
            <a:off x="8651338" y="2410967"/>
            <a:ext cx="3111189" cy="457693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A6B28C5-4DCF-F137-DBB2-EA6C8945615A}"/>
              </a:ext>
            </a:extLst>
          </p:cNvPr>
          <p:cNvSpPr/>
          <p:nvPr/>
        </p:nvSpPr>
        <p:spPr>
          <a:xfrm>
            <a:off x="8761067" y="2447543"/>
            <a:ext cx="2862294" cy="37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Next Steps</a:t>
            </a:r>
            <a:endParaRPr lang="en-US" sz="125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AA1142D-2ADD-75C6-63A6-1EF588E1FFF4}"/>
              </a:ext>
            </a:extLst>
          </p:cNvPr>
          <p:cNvSpPr/>
          <p:nvPr/>
        </p:nvSpPr>
        <p:spPr>
          <a:xfrm>
            <a:off x="8651338" y="2795016"/>
            <a:ext cx="3111189" cy="36615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8274C95-B8D8-A0AB-5E64-EB22934948AC}"/>
              </a:ext>
            </a:extLst>
          </p:cNvPr>
          <p:cNvSpPr/>
          <p:nvPr/>
        </p:nvSpPr>
        <p:spPr>
          <a:xfrm>
            <a:off x="8779354" y="2904744"/>
            <a:ext cx="2820811" cy="34217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Model. Forecast EV adoption through 2030.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Policymakers. Contact officials to help with planning.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cs typeface="Calibri" pitchFamily="34" charset="-120"/>
              </a:rPr>
              <a:t>Incorporate Emissions Data.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cs typeface="Calibri" pitchFamily="34" charset="-120"/>
              </a:rPr>
              <a:t>Add more variables. (home ownership, commute distance)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8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F36C-3177-F230-EA80-BBDD0DCA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3491-1A3A-5356-2FD9-478278906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thanks to Professor Alraee</a:t>
            </a:r>
          </a:p>
          <a:p>
            <a:r>
              <a:rPr lang="en-US" dirty="0"/>
              <a:t>Thank you Professor Saidi</a:t>
            </a:r>
          </a:p>
          <a:p>
            <a:r>
              <a:rPr lang="en-US" dirty="0"/>
              <a:t>Thank you Professor Peri</a:t>
            </a:r>
          </a:p>
          <a:p>
            <a:r>
              <a:rPr lang="en-US" dirty="0"/>
              <a:t>Thank you Data Science Cohort. </a:t>
            </a:r>
          </a:p>
          <a:p>
            <a:r>
              <a:rPr lang="en-US" dirty="0"/>
              <a:t>Thank you Montgomery County Government</a:t>
            </a:r>
          </a:p>
          <a:p>
            <a:r>
              <a:rPr lang="en-US" dirty="0"/>
              <a:t>Thank you Data Montgomery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632C1-162C-CB77-7EF9-A8080BDAE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295" y="2496333"/>
            <a:ext cx="4968747" cy="246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1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8809-36E6-3A03-BC8B-E26680B2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7C3E8-BA6A-2374-D152-1438E22BE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Montgomery County Launches Maryland’s First ‘EV Purchasing Co-op Dealership Incentive Program’ to Share Information and Reduce Cost of Buying Electric Vehicles - https://conduitstreet.mdcounties.org/2022/12/20/montgomery-launches-ev-purchasing-co-op-dealership-incentive-program/</a:t>
            </a:r>
          </a:p>
          <a:p>
            <a:r>
              <a:rPr lang="en-US" dirty="0"/>
              <a:t>EV Rebates in Bethesda, MD: 2025–2026 Guide to Credits &amp; Incentives - https://recharged.com/articles/ev-rebates-bethesda-md?srsltid=AfmBOopGmjf0bHTTTc7QTgHA8cJNkVKKWv3Yzd-ERWOGlAPbGspY_U3D</a:t>
            </a:r>
          </a:p>
          <a:p>
            <a:endParaRPr lang="en-US" dirty="0"/>
          </a:p>
          <a:p>
            <a:r>
              <a:rPr lang="en-US" dirty="0"/>
              <a:t>Maryland Department of Environment - https://mde.maryland.gov/programs/air/ClimateChange/Documents/2030%20GGRA%20Plan/THE%202030%20GGRA%20PLAN.pdf</a:t>
            </a:r>
          </a:p>
        </p:txBody>
      </p:sp>
    </p:spTree>
    <p:extLst>
      <p:ext uri="{BB962C8B-B14F-4D97-AF65-F5344CB8AC3E}">
        <p14:creationId xmlns:p14="http://schemas.microsoft.com/office/powerpoint/2010/main" val="333862934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6382</TotalTime>
  <Words>662</Words>
  <Application>Microsoft Macintosh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Franklin Gothic Book</vt:lpstr>
      <vt:lpstr>Crop</vt:lpstr>
      <vt:lpstr>Is Maryland ready for ev’s?</vt:lpstr>
      <vt:lpstr>Why This Project?</vt:lpstr>
      <vt:lpstr>Background Information</vt:lpstr>
      <vt:lpstr>EV Growth Over Time in Maryland</vt:lpstr>
      <vt:lpstr>EV to Charger Ratios by County</vt:lpstr>
      <vt:lpstr>Rich Counties Have a Worse Charger Shortage </vt:lpstr>
      <vt:lpstr>Charger Type Distribution by Counties</vt:lpstr>
      <vt:lpstr>What Drives EV Adoption?</vt:lpstr>
      <vt:lpstr>Why Does Montgomery County Dominate?</vt:lpstr>
      <vt:lpstr>Take aways</vt:lpstr>
      <vt:lpstr>Reflection </vt:lpstr>
      <vt:lpstr>Acknowledgments 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Kumukov, Damir</dc:creator>
  <cp:lastModifiedBy>Kumukov, Damir</cp:lastModifiedBy>
  <cp:revision>7</cp:revision>
  <dcterms:created xsi:type="dcterms:W3CDTF">2026-05-05T14:20:22Z</dcterms:created>
  <dcterms:modified xsi:type="dcterms:W3CDTF">2026-05-10T16:52:21Z</dcterms:modified>
</cp:coreProperties>
</file>